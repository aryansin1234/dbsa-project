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474720"/>
            <a:ext cx="9144000" cy="1097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640080" cy="640080"/>
          </a:xfrm>
          <a:prstGeom prst="roundedRectangle">
            <a:avLst>
              <a:gd name="adj" fmla="val 17143"/>
            </a:avLst>
          </a:prstGeom>
          <a:solidFill>
            <a:srgbClr val="2FA27A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48640"/>
            <a:ext cx="420624" cy="4206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MediTrack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Patient &amp; Clinical Record Management System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BITS Pilani WILP  ·  SESAP ZC337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&amp; Solution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097280" cy="0"/>
          </a:xfrm>
          <a:prstGeom prst="line">
            <a:avLst/>
          </a:prstGeom>
          <a:noFill/>
          <a:ln w="38100">
            <a:solidFill>
              <a:srgbClr val="2FA2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angle">
            <a:avLst/>
          </a:prstGeom>
          <a:solidFill>
            <a:srgbClr val="1A3D5C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Paper-based clinic today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81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re-registered in every register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130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Prescriptions with no audit trail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Doctors double-booked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4612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227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Abnormal lab results missed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9476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3776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Anyone can access any record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4754880" y="1005840"/>
            <a:ext cx="3931920" cy="3474720"/>
          </a:xfrm>
          <a:prstGeom prst="rectangle">
            <a:avLst/>
          </a:prstGeom>
          <a:solidFill>
            <a:srgbClr val="1A3D5C"/>
          </a:solidFill>
          <a:ln w="19050">
            <a:solidFill>
              <a:srgbClr val="2FA27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MediTrack fixes it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60020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12080" y="1581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patient record, referenced everywhere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14884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2080" y="2130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trigger captures every change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697480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1208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Conflict trigger + SELECT FOR UPDATE lock</a:t>
            </a:r>
            <a:endParaRPr lang="en-US" sz="10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246120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212080" y="3227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Auto-flag: NORMAL / LOW / HIGH / CRITICAL</a:t>
            </a:r>
            <a:endParaRPr lang="en-US" sz="10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794760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212080" y="3776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roles, least-privilege RBAC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097280" cy="0"/>
          </a:xfrm>
          <a:prstGeom prst="line">
            <a:avLst/>
          </a:prstGeom>
          <a:noFill/>
          <a:ln w="38100">
            <a:solidFill>
              <a:srgbClr val="2FA2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286000" cy="2103120"/>
          </a:xfrm>
          <a:prstGeom prst="roundedRectangle">
            <a:avLst>
              <a:gd name="adj" fmla="val 4348"/>
            </a:avLst>
          </a:prstGeom>
          <a:solidFill>
            <a:srgbClr val="1A3D5C"/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18 + TypeScript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</a:rPr>
              <a:t>Vite · TanStack Query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</a:rPr>
              <a:t>Zustand · Recharts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</a:rPr>
              <a:t>Framer Motion · GSAP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2057400"/>
            <a:ext cx="731520" cy="0"/>
          </a:xfrm>
          <a:prstGeom prst="line">
            <a:avLst/>
          </a:prstGeom>
          <a:noFill/>
          <a:ln w="25400">
            <a:solidFill>
              <a:srgbClr val="2FA2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783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CE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/api/ proxy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474720" y="1005840"/>
            <a:ext cx="2286000" cy="2103120"/>
          </a:xfrm>
          <a:prstGeom prst="roundedRectangle">
            <a:avLst>
              <a:gd name="adj" fmla="val 4348"/>
            </a:avLst>
          </a:prstGeom>
          <a:solidFill>
            <a:srgbClr val="1A3D5C"/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1430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 + SQLAlchemy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</a:rPr>
              <a:t>Python 3.11 · Pydantic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</a:rPr>
              <a:t>JWT + bcrypt · 14 routers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</a:rPr>
              <a:t>Simulation Engine thread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2057400"/>
            <a:ext cx="731520" cy="0"/>
          </a:xfrm>
          <a:prstGeom prst="line">
            <a:avLst/>
          </a:prstGeom>
          <a:noFill/>
          <a:ln w="25400">
            <a:solidFill>
              <a:srgbClr val="2FA2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783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CE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SQL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492240" y="1005840"/>
            <a:ext cx="2194560" cy="914400"/>
          </a:xfrm>
          <a:prstGeom prst="roundedRectangle">
            <a:avLst>
              <a:gd name="adj" fmla="val 10000"/>
            </a:avLst>
          </a:prstGeom>
          <a:solidFill>
            <a:srgbClr val="1A3D5C"/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0789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 16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</a:rPr>
              <a:t>15 tables · Triggers · Views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2103120"/>
            <a:ext cx="2194560" cy="914400"/>
          </a:xfrm>
          <a:prstGeom prst="roundedRectangle">
            <a:avLst>
              <a:gd name="adj" fmla="val 10000"/>
            </a:avLst>
          </a:prstGeom>
          <a:solidFill>
            <a:srgbClr val="1A3D5C"/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762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Redis 7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</a:rPr>
              <a:t>Token store · Session cache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A27A"/>
                </a:solidFill>
              </a:rPr>
              <a:t>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34440" y="3749040"/>
            <a:ext cx="1463040" cy="292608"/>
          </a:xfrm>
          <a:prstGeom prst="roundedRectangle">
            <a:avLst>
              <a:gd name="adj" fmla="val 25000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749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Compose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71800" y="3749040"/>
            <a:ext cx="1463040" cy="292608"/>
          </a:xfrm>
          <a:prstGeom prst="roundedRectangle">
            <a:avLst>
              <a:gd name="adj" fmla="val 25000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749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Auth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3749040"/>
            <a:ext cx="1463040" cy="292608"/>
          </a:xfrm>
          <a:prstGeom prst="roundedRectangle">
            <a:avLst>
              <a:gd name="adj" fmla="val 25000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749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Guards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46520" y="3749040"/>
            <a:ext cx="1463040" cy="292608"/>
          </a:xfrm>
          <a:prstGeom prst="roundedRectangle">
            <a:avLst>
              <a:gd name="adj" fmla="val 25000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749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Simulation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Design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097280" cy="0"/>
          </a:xfrm>
          <a:prstGeom prst="line">
            <a:avLst/>
          </a:prstGeom>
          <a:noFill/>
          <a:ln w="38100">
            <a:solidFill>
              <a:srgbClr val="2FA2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Tables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22576" y="1298448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22576" y="12984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002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22576" y="1600200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2576" y="16002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healthcare_professional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01952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019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22576" y="1901952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22576" y="19019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03704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037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diagnosis_code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22576" y="2203704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22576" y="22037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505456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054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prescription_item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22576" y="2505456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22576" y="25054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807208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072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medicine_category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22576" y="2807208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22576" y="28072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lab_test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1089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lab_investigation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22576" y="3108960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22576" y="31089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lab_result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410712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107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clinical_record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22576" y="3410712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22576" y="34107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referral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712464"/>
            <a:ext cx="1783080" cy="219456"/>
          </a:xfrm>
          <a:prstGeom prst="roundedRectangle">
            <a:avLst>
              <a:gd name="adj" fmla="val 33333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7124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audit_log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1371600"/>
            <a:ext cx="3931920" cy="566928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41" name="Shape 39"/>
          <p:cNvSpPr/>
          <p:nvPr/>
        </p:nvSpPr>
        <p:spPr>
          <a:xfrm>
            <a:off x="4754880" y="1371600"/>
            <a:ext cx="54864" cy="566928"/>
          </a:xfrm>
          <a:prstGeom prst="rectangle">
            <a:avLst/>
          </a:prstGeom>
          <a:solidFill>
            <a:srgbClr val="2FA27A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144475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2E8F0"/>
                </a:solidFill>
              </a:rPr>
              <a:t>UUID primary keys — no enumeration attacks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2029968"/>
            <a:ext cx="3931920" cy="566928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44" name="Shape 42"/>
          <p:cNvSpPr/>
          <p:nvPr/>
        </p:nvSpPr>
        <p:spPr>
          <a:xfrm>
            <a:off x="4754880" y="2029968"/>
            <a:ext cx="54864" cy="566928"/>
          </a:xfrm>
          <a:prstGeom prst="rectangle">
            <a:avLst/>
          </a:prstGeom>
          <a:solidFill>
            <a:srgbClr val="2FA27A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210312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2E8F0"/>
                </a:solidFill>
              </a:rPr>
              <a:t>Generalisation: person → patient / professional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688336"/>
            <a:ext cx="3931920" cy="566928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47" name="Shape 45"/>
          <p:cNvSpPr/>
          <p:nvPr/>
        </p:nvSpPr>
        <p:spPr>
          <a:xfrm>
            <a:off x="4754880" y="2688336"/>
            <a:ext cx="54864" cy="566928"/>
          </a:xfrm>
          <a:prstGeom prst="rectangle">
            <a:avLst/>
          </a:prstGeom>
          <a:solidFill>
            <a:srgbClr val="2FA27A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276148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2E8F0"/>
                </a:solidFill>
              </a:rPr>
              <a:t>Weak entity: prescription_item (composite PK)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3346704"/>
            <a:ext cx="3931920" cy="566928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50" name="Shape 48"/>
          <p:cNvSpPr/>
          <p:nvPr/>
        </p:nvSpPr>
        <p:spPr>
          <a:xfrm>
            <a:off x="4754880" y="3346704"/>
            <a:ext cx="54864" cy="566928"/>
          </a:xfrm>
          <a:prstGeom prst="rectangle">
            <a:avLst/>
          </a:prstGeom>
          <a:solidFill>
            <a:srgbClr val="2FA27A"/>
          </a:solidFill>
          <a:ln/>
        </p:spPr>
      </p:sp>
      <p:sp>
        <p:nvSpPr>
          <p:cNvPr id="51" name="Text 49"/>
          <p:cNvSpPr/>
          <p:nvPr/>
        </p:nvSpPr>
        <p:spPr>
          <a:xfrm>
            <a:off x="4892040" y="341985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2E8F0"/>
                </a:solidFill>
              </a:rPr>
              <a:t>6 ENUMs: status, severity, flag, gender, blood, role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solidFill>
            <a:srgbClr val="1A3D5C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CHECK CONSTRAINTS:  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DOB &lt; today   |   end &gt; start   |   value ≥ 0   |   stock ≥ 0   |   duration &gt; 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Layer — Standout Features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097280" cy="0"/>
          </a:xfrm>
          <a:prstGeom prst="line">
            <a:avLst/>
          </a:prstGeom>
          <a:noFill/>
          <a:ln w="38100">
            <a:solidFill>
              <a:srgbClr val="2FA2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1691640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840480" cy="45720"/>
          </a:xfrm>
          <a:prstGeom prst="rectangle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trg_write_audit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</a:rPr>
              <a:t>  → JSONB old/new snapshots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trg_appt_conflict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</a:rPr>
              <a:t>  → double-book RAISE exception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trg_set_updated_at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</a:rPr>
              <a:t>  → 7 tables auto-timestamp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480560" y="1005840"/>
            <a:ext cx="3840480" cy="1691640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1005840"/>
            <a:ext cx="3840480" cy="45720"/>
          </a:xfrm>
          <a:prstGeom prst="rectangle">
            <a:avLst/>
          </a:prstGeom>
          <a:solidFill>
            <a:srgbClr val="2FA27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430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617720" y="14630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fn_calculate_age(dob)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</a:rPr>
              <a:t>  → returns INT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fn_flag_lab_result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</a:rPr>
              <a:t>  → NORMAL / LOW / HIGH / CRITICAL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2880360"/>
            <a:ext cx="3840480" cy="1691640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15" name="Shape 11"/>
          <p:cNvSpPr/>
          <p:nvPr/>
        </p:nvSpPr>
        <p:spPr>
          <a:xfrm>
            <a:off x="457200" y="2880360"/>
            <a:ext cx="3840480" cy="45720"/>
          </a:xfrm>
          <a:prstGeom prst="rectangle">
            <a:avLst/>
          </a:prstGeom>
          <a:solidFill>
            <a:srgbClr val="3B82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175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94360" y="33375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vw_patient_summary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vw_doctor_schedule_today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vw_pending_lab_results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vw_audit_recent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480560" y="2880360"/>
            <a:ext cx="3840480" cy="1691640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20" name="Shape 15"/>
          <p:cNvSpPr/>
          <p:nvPr/>
        </p:nvSpPr>
        <p:spPr>
          <a:xfrm>
            <a:off x="4480560" y="2880360"/>
            <a:ext cx="3840480" cy="45720"/>
          </a:xfrm>
          <a:prstGeom prst="rectangle">
            <a:avLst/>
          </a:prstGeom>
          <a:solidFill>
            <a:srgbClr val="8B5C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01752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9204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617720" y="33375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15 total indexes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</a:rPr>
              <a:t>FK B-trees (all FKs)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Composite: (doctor_id, start_time)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Partial: WHERE status='SCHEDULED'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GIN: audit_log JSONB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 Showcase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097280" cy="0"/>
          </a:xfrm>
          <a:prstGeom prst="line">
            <a:avLst/>
          </a:prstGeom>
          <a:noFill/>
          <a:ln w="38100">
            <a:solidFill>
              <a:srgbClr val="2FA2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1417320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3931920" cy="45720"/>
          </a:xfrm>
          <a:prstGeom prst="rectangle">
            <a:avLst/>
          </a:prstGeom>
          <a:solidFill>
            <a:srgbClr val="2FA27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 FUNCTION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RANK() OVER (ORDER BY COUNT(visits) DESC)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947672"/>
            <a:ext cx="36576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84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10 patients ranked by visit count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3931920" cy="1417320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960120"/>
            <a:ext cx="3931920" cy="45720"/>
          </a:xfrm>
          <a:prstGeom prst="rectangle">
            <a:avLst/>
          </a:prstGeom>
          <a:solidFill>
            <a:srgbClr val="2FA27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daily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date_trunc('day', start_time)...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947672"/>
            <a:ext cx="36576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984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appointment volume + completion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3931920" cy="1417320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60320"/>
            <a:ext cx="3931920" cy="45720"/>
          </a:xfrm>
          <a:prstGeom prst="rectangle">
            <a:avLst/>
          </a:prstGeom>
          <a:solidFill>
            <a:srgbClr val="2FA27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RECURSIVE CTE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RECURSIVE chain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anchor UNION ALL recursive step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depth ≤ 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3547872"/>
            <a:ext cx="36576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84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referral chain traversal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2560320"/>
            <a:ext cx="3931920" cy="1417320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2560320"/>
            <a:ext cx="3931920" cy="45720"/>
          </a:xfrm>
          <a:prstGeom prst="rectangle">
            <a:avLst/>
          </a:prstGeom>
          <a:solidFill>
            <a:srgbClr val="2FA27A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LATERAL JOIN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LATERAL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... LIMIT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ON true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3547872"/>
            <a:ext cx="36576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584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Latest lab result per test type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0" y="4480560"/>
            <a:ext cx="5120640" cy="292608"/>
          </a:xfrm>
          <a:prstGeom prst="roundedRectangle">
            <a:avLst>
              <a:gd name="adj" fmla="val 25000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4480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4 queries live in SQL Insights page · Admin only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Control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097280" cy="0"/>
          </a:xfrm>
          <a:prstGeom prst="line">
            <a:avLst/>
          </a:prstGeom>
          <a:noFill/>
          <a:ln w="38100">
            <a:solidFill>
              <a:srgbClr val="2FA27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  <a:gridCol w="1005840"/>
                <a:gridCol w="1005840"/>
                <a:gridCol w="137160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2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2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DOCTOR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2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NURSE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2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LAB TECH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2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RECEPTIONIST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27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Register patient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View patient list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List only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Patient detail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Labs only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Book appointment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Diagnose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Prescribe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Order lab test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Enter lab result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SQL Insights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 Log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Lab Queue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 Engine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FA2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42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3-Layer Enforcement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05840" y="4434840"/>
            <a:ext cx="2011680" cy="320040"/>
          </a:xfrm>
          <a:prstGeom prst="roundedRectangle">
            <a:avLst>
              <a:gd name="adj" fmla="val 22857"/>
            </a:avLst>
          </a:prstGeom>
          <a:solidFill>
            <a:srgbClr val="234B6E">
              <a:alpha val="85000"/>
            </a:srgbClr>
          </a:solidFill>
          <a:ln w="12700">
            <a:solidFill>
              <a:srgbClr val="234B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DB roles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017520" y="4434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A27A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566160" y="4434840"/>
            <a:ext cx="2011680" cy="320040"/>
          </a:xfrm>
          <a:prstGeom prst="roundedRectangle">
            <a:avLst>
              <a:gd name="adj" fmla="val 22857"/>
            </a:avLst>
          </a:prstGeom>
          <a:solidFill>
            <a:srgbClr val="234B6E">
              <a:alpha val="85000"/>
            </a:srgbClr>
          </a:solidFill>
          <a:ln w="12700">
            <a:solidFill>
              <a:srgbClr val="234B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require_role()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77840" y="4434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A27A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4434840"/>
            <a:ext cx="2011680" cy="320040"/>
          </a:xfrm>
          <a:prstGeom prst="roundedRectangle">
            <a:avLst>
              <a:gd name="adj" fmla="val 22857"/>
            </a:avLst>
          </a:prstGeom>
          <a:solidFill>
            <a:srgbClr val="234B6E">
              <a:alpha val="85000"/>
            </a:srgbClr>
          </a:solidFill>
          <a:ln w="12700">
            <a:solidFill>
              <a:srgbClr val="234B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RoleRoute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 &amp; Security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097280" cy="0"/>
          </a:xfrm>
          <a:prstGeom prst="line">
            <a:avLst/>
          </a:prstGeom>
          <a:noFill/>
          <a:ln w="38100">
            <a:solidFill>
              <a:srgbClr val="2FA2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3566160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ACID Transaction: Prescription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prescription → flush for ID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medicine FOR UPDATE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34440" y="2240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 stock_count &gt; 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34440" y="2606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stock_count -=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3444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prescription_item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356616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db.commit() — all or nothing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804672" cy="256032"/>
          </a:xfrm>
          <a:prstGeom prst="roundedRectangle">
            <a:avLst>
              <a:gd name="adj" fmla="val 28571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862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Atomicity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536192" y="3886200"/>
            <a:ext cx="804672" cy="256032"/>
          </a:xfrm>
          <a:prstGeom prst="roundedRectangle">
            <a:avLst>
              <a:gd name="adj" fmla="val 28571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36192" y="38862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32304" y="3886200"/>
            <a:ext cx="804672" cy="256032"/>
          </a:xfrm>
          <a:prstGeom prst="roundedRectangle">
            <a:avLst>
              <a:gd name="adj" fmla="val 28571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32304" y="38862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28416" y="3886200"/>
            <a:ext cx="804672" cy="256032"/>
          </a:xfrm>
          <a:prstGeom prst="roundedRectangle">
            <a:avLst>
              <a:gd name="adj" fmla="val 28571"/>
            </a:avLst>
          </a:prstGeom>
          <a:solidFill>
            <a:srgbClr val="2FA27A">
              <a:alpha val="85000"/>
            </a:srgbClr>
          </a:solidFill>
          <a:ln w="12700">
            <a:solidFill>
              <a:srgbClr val="2FA2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28416" y="38862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Durability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097280"/>
            <a:ext cx="0" cy="33832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005840"/>
            <a:ext cx="3931920" cy="3566160"/>
          </a:xfrm>
          <a:prstGeom prst="rectangle">
            <a:avLst/>
          </a:prstGeom>
          <a:solidFill>
            <a:srgbClr val="1A3D5C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Optimistic Locking: SOAP Notes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1554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reads note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9224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version: 3 }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37760" y="19385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sends save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92240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version: 3 }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37760" y="232257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checks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92240" y="23225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body.version == record.version?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212080" y="27066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A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 → save · version becomes 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212080" y="30906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 → 409 Conflict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37760" y="3611880"/>
            <a:ext cx="356616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3886200"/>
            <a:ext cx="2560320" cy="256032"/>
          </a:xfrm>
          <a:prstGeom prst="roundedRectangle">
            <a:avLst>
              <a:gd name="adj" fmla="val 28571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3886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C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Concurrent edit detection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3-Week Build Timeline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097280" cy="0"/>
          </a:xfrm>
          <a:prstGeom prst="line">
            <a:avLst/>
          </a:prstGeom>
          <a:noFill/>
          <a:ln w="38100">
            <a:solidFill>
              <a:srgbClr val="2FA2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463040"/>
            <a:ext cx="6949440" cy="0"/>
          </a:xfrm>
          <a:prstGeom prst="line">
            <a:avLst/>
          </a:prstGeom>
          <a:noFill/>
          <a:ln w="38100">
            <a:solidFill>
              <a:srgbClr val="2FA2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325880"/>
            <a:ext cx="274320" cy="274320"/>
          </a:xfrm>
          <a:prstGeom prst="oval">
            <a:avLst/>
          </a:prstGeom>
          <a:solidFill>
            <a:srgbClr val="2FA27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1901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– 11 Sep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2880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23317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stack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15-table schema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+ bcrypt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triggers + views + indexes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engine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274320" cy="274320"/>
          </a:xfrm>
          <a:prstGeom prst="oval">
            <a:avLst/>
          </a:prstGeom>
          <a:solidFill>
            <a:srgbClr val="2FA27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901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– 20 Sep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0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+ SQL Showcase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23317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UI pages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Insights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SOAP optimistic locking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909560" y="1325880"/>
            <a:ext cx="274320" cy="274320"/>
          </a:xfrm>
          <a:prstGeom prst="oval">
            <a:avLst/>
          </a:prstGeom>
          <a:solidFill>
            <a:srgbClr val="2FA27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1901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– 25 Sep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32320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 + Clinical Workflow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23317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3-layer RBAC enforced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full workflow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tech work queue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 ICD-10 codes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lab tests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Blank-start platform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0" y="4114800"/>
            <a:ext cx="5486400" cy="320040"/>
          </a:xfrm>
          <a:prstGeom prst="rect">
            <a:avLst/>
          </a:prstGeom>
          <a:solidFill>
            <a:srgbClr val="1A3D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 2: DICOM Viewer  ·  AI Summaries  ·  Demand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57600"/>
            <a:ext cx="914400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MediTrack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PostgreSQL 16  ·  FastAPI  ·  React 18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88720" y="1965960"/>
            <a:ext cx="2011680" cy="292608"/>
          </a:xfrm>
          <a:prstGeom prst="roundedRectangle">
            <a:avLst>
              <a:gd name="adj" fmla="val 25000"/>
            </a:avLst>
          </a:prstGeom>
          <a:solidFill>
            <a:srgbClr val="234B6E">
              <a:alpha val="85000"/>
            </a:srgbClr>
          </a:solidFill>
          <a:ln w="12700">
            <a:solidFill>
              <a:srgbClr val="234B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88720" y="1965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localhost:5173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66160" y="1965960"/>
            <a:ext cx="2011680" cy="292608"/>
          </a:xfrm>
          <a:prstGeom prst="roundedRectangle">
            <a:avLst>
              <a:gd name="adj" fmla="val 25000"/>
            </a:avLst>
          </a:prstGeom>
          <a:solidFill>
            <a:srgbClr val="234B6E">
              <a:alpha val="85000"/>
            </a:srgbClr>
          </a:solidFill>
          <a:ln w="12700">
            <a:solidFill>
              <a:srgbClr val="234B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66160" y="1965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/docs — Swagger UI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0" y="1965960"/>
            <a:ext cx="2011680" cy="292608"/>
          </a:xfrm>
          <a:prstGeom prst="roundedRectangle">
            <a:avLst>
              <a:gd name="adj" fmla="val 25000"/>
            </a:avLst>
          </a:prstGeom>
          <a:solidFill>
            <a:srgbClr val="234B6E">
              <a:alpha val="85000"/>
            </a:srgbClr>
          </a:solidFill>
          <a:ln w="12700">
            <a:solidFill>
              <a:srgbClr val="234B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1965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admin@meditrack.dev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828800" y="2514600"/>
            <a:ext cx="5486400" cy="0"/>
          </a:xfrm>
          <a:prstGeom prst="line">
            <a:avLst/>
          </a:prstGeom>
          <a:noFill/>
          <a:ln w="25400">
            <a:solidFill>
              <a:srgbClr val="2FA2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 2 — Coming Next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20" y="30632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" y="3410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DICOM Viewer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3152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image upload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in-browser viewer</a:t>
            </a:r>
            <a:endParaRPr lang="en-US" sz="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30632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83280" y="3410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Summaries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38328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SOAP summarisation ·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drug-interaction checker</a:t>
            </a:r>
            <a:endParaRPr lang="en-US" sz="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306324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35040" y="3410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A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Forecasting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03504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Prophet time-series ·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TimescaleDB vitals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BITS Pilani WILP  ·  SESAP ZC337  ·  Database Systems &amp; Applications  ·  September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MediTrack - Smart Patient &amp; Clinical Record Management System</dc:title>
  <dc:subject>PptxGenJS Presentation</dc:subject>
  <dc:creator>MediTrack Team</dc:creator>
  <cp:lastModifiedBy>MediTrack Team</cp:lastModifiedBy>
  <cp:revision>1</cp:revision>
  <dcterms:created xsi:type="dcterms:W3CDTF">2026-09-25T13:03:10Z</dcterms:created>
  <dcterms:modified xsi:type="dcterms:W3CDTF">2026-09-25T13:03:10Z</dcterms:modified>
</cp:coreProperties>
</file>